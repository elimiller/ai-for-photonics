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7"/>
  </p:notesMasterIdLst>
  <p:sldIdLst>
    <p:sldId id="257" r:id="rId2"/>
    <p:sldId id="295" r:id="rId3"/>
    <p:sldId id="294" r:id="rId4"/>
    <p:sldId id="296" r:id="rId5"/>
    <p:sldId id="285" r:id="rId6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FF0909"/>
    <a:srgbClr val="B4C7E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ABFCF23-3B69-468F-B69F-88F6DE6A72F2}" styleName="보통 스타일 1 - 강조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211" autoAdjust="0"/>
    <p:restoredTop sz="85205" autoAdjust="0"/>
  </p:normalViewPr>
  <p:slideViewPr>
    <p:cSldViewPr snapToGrid="0">
      <p:cViewPr varScale="1">
        <p:scale>
          <a:sx n="94" d="100"/>
          <a:sy n="94" d="100"/>
        </p:scale>
        <p:origin x="1278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813727D-7E33-43A0-8F06-F2E9A873BA3E}" type="datetimeFigureOut">
              <a:rPr lang="ko-KR" altLang="en-US" smtClean="0"/>
              <a:t>2026-09-23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C89769D-0263-4E29-9568-4C27A0FDFD7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571097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89769D-0263-4E29-9568-4C27A0FDFD7B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290826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C45B18-830A-DC05-D9BB-5554FD6E95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A23D2D9-E507-90EF-7933-AB1304DBFA5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14A87FE-EBDB-B13E-A6DD-80E5F632628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20248B4-FA93-2DAC-4BC9-A9539AC2E4F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89769D-0263-4E29-9568-4C27A0FDFD7B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1440118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7F999C-1DBD-B5DA-A4F8-00CF63D5D8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5A877DF-B6A8-8F61-DE23-6185A8912F6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B770344-7BAB-457D-596D-E79EA57B705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4ECB1AF-393A-C793-818F-4C09FB3E5B6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89769D-0263-4E29-9568-4C27A0FDFD7B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9470541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1F5886-968D-4050-2852-908CC1CE48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3510D3F-5239-4D8A-4684-BE2D3F2FDCD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6D404C5-3DA6-87D3-78D3-94504A2D3D2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FC487B6-9F3B-CCD1-ABBA-6FBE5654F6F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89769D-0263-4E29-9568-4C27A0FDFD7B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8767302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89769D-0263-4E29-9568-4C27A0FDFD7B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3411277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1122363"/>
            <a:ext cx="103632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10C64647-8E76-479C-8192-CBF4AF68FB5F}"/>
              </a:ext>
            </a:extLst>
          </p:cNvPr>
          <p:cNvSpPr/>
          <p:nvPr userDrawn="1"/>
        </p:nvSpPr>
        <p:spPr>
          <a:xfrm flipV="1">
            <a:off x="0" y="6532042"/>
            <a:ext cx="12192000" cy="365126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75000"/>
                </a:schemeClr>
              </a:gs>
              <a:gs pos="48000">
                <a:schemeClr val="accent1">
                  <a:tint val="44500"/>
                  <a:satMod val="160000"/>
                </a:schemeClr>
              </a:gs>
              <a:gs pos="100000">
                <a:schemeClr val="bg1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74D4BB63-081D-4937-BC39-559EAD352051}"/>
              </a:ext>
            </a:extLst>
          </p:cNvPr>
          <p:cNvSpPr/>
          <p:nvPr userDrawn="1"/>
        </p:nvSpPr>
        <p:spPr>
          <a:xfrm flipV="1">
            <a:off x="1676400" y="2551744"/>
            <a:ext cx="10515600" cy="54174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75000"/>
                </a:schemeClr>
              </a:gs>
              <a:gs pos="48000">
                <a:schemeClr val="accent1">
                  <a:tint val="44500"/>
                  <a:satMod val="160000"/>
                </a:schemeClr>
              </a:gs>
              <a:gs pos="100000">
                <a:schemeClr val="bg1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/>
          </a:p>
        </p:txBody>
      </p:sp>
    </p:spTree>
    <p:extLst>
      <p:ext uri="{BB962C8B-B14F-4D97-AF65-F5344CB8AC3E}">
        <p14:creationId xmlns:p14="http://schemas.microsoft.com/office/powerpoint/2010/main" val="2357522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32656"/>
            <a:ext cx="10515600" cy="432048"/>
          </a:xfrm>
        </p:spPr>
        <p:txBody>
          <a:bodyPr>
            <a:noAutofit/>
          </a:bodyPr>
          <a:lstStyle>
            <a:lvl1pPr>
              <a:defRPr sz="2800"/>
            </a:lvl1pPr>
          </a:lstStyle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052736"/>
            <a:ext cx="10515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5B20DB-A6EA-4EEF-946F-BE0298D88F88}" type="datetimeFigureOut">
              <a:rPr lang="ko-KR" altLang="en-US" smtClean="0"/>
              <a:t>2026-09-23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D55483-7F28-40BE-BE30-A3F90EFDEFEF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2E5A2227-7360-4903-8717-D42B03DC0854}"/>
              </a:ext>
            </a:extLst>
          </p:cNvPr>
          <p:cNvSpPr/>
          <p:nvPr userDrawn="1"/>
        </p:nvSpPr>
        <p:spPr>
          <a:xfrm flipV="1">
            <a:off x="838200" y="755622"/>
            <a:ext cx="10515600" cy="45719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75000"/>
                </a:schemeClr>
              </a:gs>
              <a:gs pos="48000">
                <a:schemeClr val="accent1">
                  <a:tint val="44500"/>
                  <a:satMod val="160000"/>
                </a:schemeClr>
              </a:gs>
              <a:gs pos="100000">
                <a:schemeClr val="bg1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/>
          </a:p>
        </p:txBody>
      </p:sp>
    </p:spTree>
    <p:extLst>
      <p:ext uri="{BB962C8B-B14F-4D97-AF65-F5344CB8AC3E}">
        <p14:creationId xmlns:p14="http://schemas.microsoft.com/office/powerpoint/2010/main" val="18536321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2F27CB-8095-488E-95ED-6EFDE4AD6460}" type="datetimeFigureOut">
              <a:rPr lang="ko-KR" altLang="en-US" smtClean="0"/>
              <a:t>2026-09-23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D4821-DC56-4FB6-AEB2-627FF9A2A68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578186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5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2F27CB-8095-488E-95ED-6EFDE4AD6460}" type="datetimeFigureOut">
              <a:rPr lang="ko-KR" altLang="en-US" smtClean="0"/>
              <a:t>2026-09-23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D4821-DC56-4FB6-AEB2-627FF9A2A68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607866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2F27CB-8095-488E-95ED-6EFDE4AD6460}" type="datetimeFigureOut">
              <a:rPr lang="ko-KR" altLang="en-US" smtClean="0"/>
              <a:t>2026-09-23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D4821-DC56-4FB6-AEB2-627FF9A2A68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00651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7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2F27CB-8095-488E-95ED-6EFDE4AD6460}" type="datetimeFigureOut">
              <a:rPr lang="ko-KR" altLang="en-US" smtClean="0"/>
              <a:t>2026-09-23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D4821-DC56-4FB6-AEB2-627FF9A2A68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816180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2F27CB-8095-488E-95ED-6EFDE4AD6460}" type="datetimeFigureOut">
              <a:rPr lang="ko-KR" altLang="en-US" smtClean="0"/>
              <a:t>2026-09-23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D4821-DC56-4FB6-AEB2-627FF9A2A68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47442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2F27CB-8095-488E-95ED-6EFDE4AD6460}" type="datetimeFigureOut">
              <a:rPr lang="ko-KR" altLang="en-US" smtClean="0"/>
              <a:t>2026-09-23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D4821-DC56-4FB6-AEB2-627FF9A2A68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795894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2F27CB-8095-488E-95ED-6EFDE4AD6460}" type="datetimeFigureOut">
              <a:rPr lang="ko-KR" altLang="en-US" smtClean="0"/>
              <a:t>2026-09-23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D4821-DC56-4FB6-AEB2-627FF9A2A68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250614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7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2F27CB-8095-488E-95ED-6EFDE4AD6460}" type="datetimeFigureOut">
              <a:rPr lang="ko-KR" altLang="en-US" smtClean="0"/>
              <a:t>2026-09-23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D4821-DC56-4FB6-AEB2-627FF9A2A68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159038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2F27CB-8095-488E-95ED-6EFDE4AD6460}" type="datetimeFigureOut">
              <a:rPr lang="ko-KR" altLang="en-US" smtClean="0"/>
              <a:t>2026-09-23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D4821-DC56-4FB6-AEB2-627FF9A2A68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4001961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2F27CB-8095-488E-95ED-6EFDE4AD6460}" type="datetimeFigureOut">
              <a:rPr lang="ko-KR" altLang="en-US" smtClean="0"/>
              <a:t>2026-09-23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D4821-DC56-4FB6-AEB2-627FF9A2A68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911646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42F27CB-8095-488E-95ED-6EFDE4AD6460}" type="datetimeFigureOut">
              <a:rPr lang="ko-KR" altLang="en-US" smtClean="0"/>
              <a:t>2026-09-23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AFD4821-DC56-4FB6-AEB2-627FF9A2A68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437367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0.png"/><Relationship Id="rId4" Type="http://schemas.openxmlformats.org/officeDocument/2006/relationships/image" Target="../media/image8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507F10C-4EEB-4A1B-1BBB-5E8C2C211A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LPCVD (SNU)</a:t>
            </a:r>
            <a:endParaRPr lang="ko-KR" altLang="en-US" dirty="0"/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A12ED520-EED2-4BFF-F6B5-542947910DC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3760" y="999786"/>
            <a:ext cx="7649440" cy="485842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75733440-4911-6A0D-ACDE-049B5829D2A1}"/>
                  </a:ext>
                </a:extLst>
              </p:cNvPr>
              <p:cNvSpPr txBox="1"/>
              <p:nvPr/>
            </p:nvSpPr>
            <p:spPr>
              <a:xfrm>
                <a:off x="7823200" y="999786"/>
                <a:ext cx="4195040" cy="3275512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marL="342900" lvl="0" indent="-342900">
                  <a:lnSpc>
                    <a:spcPct val="150000"/>
                  </a:lnSpc>
                  <a:buFontTx/>
                  <a:buChar char="-"/>
                  <a:defRPr/>
                </a:pPr>
                <a:r>
                  <a:rPr lang="en-US" altLang="ko-KR" sz="2000" dirty="0"/>
                  <a:t>Single-run dep &amp; diced wafer</a:t>
                </a:r>
                <a:endParaRPr lang="en-US" altLang="ko-KR" sz="2000" b="0" dirty="0"/>
              </a:p>
              <a:p>
                <a:pPr marL="342900" lvl="0" indent="-342900">
                  <a:lnSpc>
                    <a:spcPct val="150000"/>
                  </a:lnSpc>
                  <a:buFontTx/>
                  <a:buChar char="-"/>
                  <a:defRPr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  <m:t>ℎ</m:t>
                        </m:r>
                      </m:e>
                      <m:sub>
                        <m: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  <m:t>45</m:t>
                        </m:r>
                      </m:sub>
                    </m:sSub>
                    <m:r>
                      <a:rPr lang="en-US" altLang="ko-KR" sz="2000" b="0" i="1" smtClean="0">
                        <a:latin typeface="Cambria Math" panose="02040503050406030204" pitchFamily="18" charset="0"/>
                      </a:rPr>
                      <m:t>=43.860±0.140 </m:t>
                    </m:r>
                    <m:r>
                      <a:rPr lang="en-US" altLang="ko-KR" sz="2000" b="0" i="1" smtClean="0">
                        <a:latin typeface="Cambria Math" panose="02040503050406030204" pitchFamily="18" charset="0"/>
                      </a:rPr>
                      <m:t>𝑛𝑚</m:t>
                    </m:r>
                  </m:oMath>
                </a14:m>
                <a:endParaRPr lang="en-US" altLang="ko-KR" sz="2000" b="0" i="1" dirty="0"/>
              </a:p>
              <a:p>
                <a:pPr lvl="0">
                  <a:lnSpc>
                    <a:spcPct val="150000"/>
                  </a:lnSpc>
                  <a:defRPr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altLang="ko-KR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2000" i="1">
                              <a:latin typeface="Cambria Math" panose="02040503050406030204" pitchFamily="18" charset="0"/>
                            </a:rPr>
                            <m:t>ℎ</m:t>
                          </m:r>
                        </m:e>
                        <m:sub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150</m:t>
                          </m:r>
                        </m:sub>
                      </m:sSub>
                      <m:r>
                        <a:rPr lang="en-US" altLang="ko-KR" sz="20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ko-KR" sz="2000" b="0" i="1" smtClean="0">
                          <a:latin typeface="Cambria Math" panose="02040503050406030204" pitchFamily="18" charset="0"/>
                        </a:rPr>
                        <m:t>104.083</m:t>
                      </m:r>
                      <m:r>
                        <a:rPr lang="en-US" altLang="ko-KR" sz="2000" i="1">
                          <a:latin typeface="Cambria Math" panose="02040503050406030204" pitchFamily="18" charset="0"/>
                        </a:rPr>
                        <m:t>±0.</m:t>
                      </m:r>
                      <m:r>
                        <a:rPr lang="en-US" altLang="ko-KR" sz="2000" b="0" i="1" smtClean="0">
                          <a:latin typeface="Cambria Math" panose="02040503050406030204" pitchFamily="18" charset="0"/>
                        </a:rPr>
                        <m:t> 481</m:t>
                      </m:r>
                      <m:r>
                        <a:rPr lang="en-US" altLang="ko-KR" sz="2000" b="0" i="1" smtClean="0">
                          <a:latin typeface="Cambria Math" panose="02040503050406030204" pitchFamily="18" charset="0"/>
                        </a:rPr>
                        <m:t>𝑛𝑚</m:t>
                      </m:r>
                    </m:oMath>
                  </m:oMathPara>
                </a14:m>
                <a:endParaRPr lang="en-US" altLang="ko-KR" sz="2000" dirty="0"/>
              </a:p>
              <a:p>
                <a:pPr marL="342900" lvl="0" indent="-342900">
                  <a:lnSpc>
                    <a:spcPct val="150000"/>
                  </a:lnSpc>
                  <a:buFontTx/>
                  <a:buChar char="-"/>
                  <a:defRPr/>
                </a:pPr>
                <a:r>
                  <a:rPr lang="en-US" altLang="ko-KR" sz="2000" dirty="0"/>
                  <a:t>Uniform films across wafer</a:t>
                </a:r>
              </a:p>
              <a:p>
                <a:pPr marL="342900" lvl="0" indent="-342900">
                  <a:lnSpc>
                    <a:spcPct val="150000"/>
                  </a:lnSpc>
                  <a:buFontTx/>
                  <a:buChar char="-"/>
                  <a:defRPr/>
                </a:pPr>
                <a:r>
                  <a:rPr lang="en-US" altLang="ko-KR" sz="2000" dirty="0"/>
                  <a:t>Thickness limit : 200nm</a:t>
                </a:r>
              </a:p>
              <a:p>
                <a:pPr marL="342900" lvl="0" indent="-342900">
                  <a:lnSpc>
                    <a:spcPct val="150000"/>
                  </a:lnSpc>
                  <a:buFontTx/>
                  <a:buChar char="-"/>
                  <a:defRPr/>
                </a:pPr>
                <a:r>
                  <a:rPr lang="en-US" altLang="ko-KR" sz="2000" dirty="0">
                    <a:solidFill>
                      <a:prstClr val="black"/>
                    </a:solidFill>
                    <a:ea typeface="맑은 고딕" panose="020B0503020000020004" pitchFamily="50" charset="-127"/>
                  </a:rPr>
                  <a:t>Backside deposition </a:t>
                </a:r>
                <a:br>
                  <a:rPr lang="en-US" altLang="ko-KR" sz="2000" dirty="0">
                    <a:solidFill>
                      <a:prstClr val="black"/>
                    </a:solidFill>
                    <a:ea typeface="맑은 고딕" panose="020B0503020000020004" pitchFamily="50" charset="-127"/>
                  </a:rPr>
                </a:br>
                <a14:m>
                  <m:oMath xmlns:m="http://schemas.openxmlformats.org/officeDocument/2006/math">
                    <m:r>
                      <a:rPr lang="en-US" altLang="ko-KR" sz="20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맑은 고딕" panose="020B0503020000020004" pitchFamily="50" charset="-127"/>
                      </a:rPr>
                      <m:t>→</m:t>
                    </m:r>
                  </m:oMath>
                </a14:m>
                <a:r>
                  <a:rPr lang="en-US" altLang="ko-KR" sz="2000" dirty="0">
                    <a:solidFill>
                      <a:prstClr val="black"/>
                    </a:solidFill>
                    <a:ea typeface="맑은 고딕" panose="020B0503020000020004" pitchFamily="50" charset="-127"/>
                  </a:rPr>
                  <a:t> Unsuitable for transmissive MS</a:t>
                </a: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75733440-4911-6A0D-ACDE-049B5829D2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23200" y="999786"/>
                <a:ext cx="4195040" cy="3275512"/>
              </a:xfrm>
              <a:prstGeom prst="rect">
                <a:avLst/>
              </a:prstGeom>
              <a:blipFill>
                <a:blip r:embed="rId4"/>
                <a:stretch>
                  <a:fillRect l="-1153" b="-1842"/>
                </a:stretch>
              </a:blipFill>
              <a:ln w="381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7" name="표 16">
            <a:extLst>
              <a:ext uri="{FF2B5EF4-FFF2-40B4-BE49-F238E27FC236}">
                <a16:creationId xmlns:a16="http://schemas.microsoft.com/office/drawing/2014/main" id="{28896F04-94F4-7E88-95FB-5303D93600B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10178331"/>
              </p:ext>
            </p:extLst>
          </p:nvPr>
        </p:nvGraphicFramePr>
        <p:xfrm>
          <a:off x="7588482" y="4484600"/>
          <a:ext cx="4429758" cy="1661507"/>
        </p:xfrm>
        <a:graphic>
          <a:graphicData uri="http://schemas.openxmlformats.org/drawingml/2006/table">
            <a:tbl>
              <a:tblPr firstRow="1" bandRow="1">
                <a:tableStyleId>{FABFCF23-3B69-468F-B69F-88F6DE6A72F2}</a:tableStyleId>
              </a:tblPr>
              <a:tblGrid>
                <a:gridCol w="651278">
                  <a:extLst>
                    <a:ext uri="{9D8B030D-6E8A-4147-A177-3AD203B41FA5}">
                      <a16:colId xmlns:a16="http://schemas.microsoft.com/office/drawing/2014/main" val="1268171083"/>
                    </a:ext>
                  </a:extLst>
                </a:gridCol>
                <a:gridCol w="1889240">
                  <a:extLst>
                    <a:ext uri="{9D8B030D-6E8A-4147-A177-3AD203B41FA5}">
                      <a16:colId xmlns:a16="http://schemas.microsoft.com/office/drawing/2014/main" val="478640369"/>
                    </a:ext>
                  </a:extLst>
                </a:gridCol>
                <a:gridCol w="1889240">
                  <a:extLst>
                    <a:ext uri="{9D8B030D-6E8A-4147-A177-3AD203B41FA5}">
                      <a16:colId xmlns:a16="http://schemas.microsoft.com/office/drawing/2014/main" val="610956503"/>
                    </a:ext>
                  </a:extLst>
                </a:gridCol>
              </a:tblGrid>
              <a:tr h="50326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H (nm)</a:t>
                      </a:r>
                      <a:endParaRPr lang="ko-KR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Imaging</a:t>
                      </a:r>
                    </a:p>
                    <a:p>
                      <a:pPr algn="ctr" latinLnBrk="1"/>
                      <a:r>
                        <a:rPr lang="en-US" altLang="ko-KR" sz="1600" dirty="0"/>
                        <a:t>(493nm)</a:t>
                      </a:r>
                      <a:endParaRPr lang="ko-KR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Raman</a:t>
                      </a:r>
                    </a:p>
                    <a:p>
                      <a:pPr algn="ctr" latinLnBrk="1"/>
                      <a:r>
                        <a:rPr lang="en-US" altLang="ko-KR" sz="1600" dirty="0"/>
                        <a:t>(532nm)</a:t>
                      </a:r>
                      <a:endParaRPr lang="ko-KR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702651240"/>
                  </a:ext>
                </a:extLst>
              </a:tr>
              <a:tr h="50326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45</a:t>
                      </a:r>
                      <a:endParaRPr lang="ko-KR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2.0193+</a:t>
                      </a:r>
                      <a:r>
                        <a:rPr lang="en-US" altLang="ko-KR" sz="1600" i="1" dirty="0"/>
                        <a:t>i </a:t>
                      </a:r>
                      <a:r>
                        <a:rPr lang="en-US" altLang="ko-KR" sz="1600" i="0" dirty="0"/>
                        <a:t>0.0000</a:t>
                      </a:r>
                      <a:endParaRPr lang="ko-KR" altLang="en-US" sz="1600" i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2.0123+</a:t>
                      </a:r>
                      <a:r>
                        <a:rPr lang="en-US" altLang="ko-KR" sz="1600" i="1" dirty="0"/>
                        <a:t>i </a:t>
                      </a:r>
                      <a:r>
                        <a:rPr lang="en-US" altLang="ko-KR" sz="1600" i="0" dirty="0"/>
                        <a:t>0.0000</a:t>
                      </a:r>
                      <a:endParaRPr lang="ko-KR" altLang="en-US" sz="1600" i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002211438"/>
                  </a:ext>
                </a:extLst>
              </a:tr>
              <a:tr h="50326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105</a:t>
                      </a:r>
                      <a:endParaRPr lang="ko-KR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2.0390+</a:t>
                      </a:r>
                      <a:r>
                        <a:rPr lang="en-US" altLang="ko-KR" sz="1600" i="1" dirty="0"/>
                        <a:t>i </a:t>
                      </a:r>
                      <a:r>
                        <a:rPr lang="en-US" altLang="ko-KR" sz="1600" i="0" dirty="0"/>
                        <a:t>0.0000</a:t>
                      </a:r>
                      <a:endParaRPr lang="ko-KR" altLang="en-US" sz="1600" i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dirty="0"/>
                        <a:t>2.0302+</a:t>
                      </a:r>
                      <a:r>
                        <a:rPr lang="en-US" altLang="ko-KR" sz="1600" i="1" dirty="0"/>
                        <a:t>i </a:t>
                      </a:r>
                      <a:r>
                        <a:rPr lang="en-US" altLang="ko-KR" sz="1600" i="0" dirty="0"/>
                        <a:t>0.0000</a:t>
                      </a:r>
                      <a:endParaRPr lang="ko-KR" altLang="en-US" sz="1600" i="1" dirty="0"/>
                    </a:p>
                    <a:p>
                      <a:pPr algn="ctr" latinLnBrk="1"/>
                      <a:endParaRPr lang="ko-KR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5733364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192275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81B00C-4F6C-82AA-0D92-1A86CC2679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36E51FD-3B57-8445-7944-58B7EC3BC1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PECVD (KANC)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360B63B7-741B-C547-E9C8-AE183745E331}"/>
                  </a:ext>
                </a:extLst>
              </p:cNvPr>
              <p:cNvSpPr txBox="1"/>
              <p:nvPr/>
            </p:nvSpPr>
            <p:spPr>
              <a:xfrm>
                <a:off x="7853680" y="1019281"/>
                <a:ext cx="4174288" cy="3737946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marL="342900" lvl="0" indent="-342900">
                  <a:lnSpc>
                    <a:spcPct val="150000"/>
                  </a:lnSpc>
                  <a:buFontTx/>
                  <a:buChar char="-"/>
                  <a:defRPr/>
                </a:pPr>
                <a:r>
                  <a:rPr lang="en-US" altLang="ko-KR" sz="2000" b="0" dirty="0"/>
                  <a:t>Different piece process for h (400˚C)</a:t>
                </a:r>
              </a:p>
              <a:p>
                <a:pPr marL="342900" indent="-342900">
                  <a:lnSpc>
                    <a:spcPct val="150000"/>
                  </a:lnSpc>
                  <a:buFontTx/>
                  <a:buChar char="-"/>
                  <a:defRPr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000" i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sz="2000" i="0" smtClean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altLang="ko-KR" sz="2000" b="0" i="0" smtClean="0">
                            <a:latin typeface="Cambria Math" panose="02040503050406030204" pitchFamily="18" charset="0"/>
                          </a:rPr>
                          <m:t>650</m:t>
                        </m:r>
                      </m:sub>
                    </m:sSub>
                    <m:r>
                      <a:rPr lang="en-US" altLang="ko-KR" sz="2000" i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sz="2000" b="0" i="0" smtClean="0">
                        <a:latin typeface="Cambria Math" panose="02040503050406030204" pitchFamily="18" charset="0"/>
                      </a:rPr>
                      <m:t>650.23, 638.77</m:t>
                    </m:r>
                    <m:r>
                      <a:rPr lang="en-US" altLang="ko-KR" sz="200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ko-KR" sz="2000" i="0" smtClean="0">
                        <a:latin typeface="Cambria Math" panose="02040503050406030204" pitchFamily="18" charset="0"/>
                      </a:rPr>
                      <m:t>nm</m:t>
                    </m:r>
                  </m:oMath>
                </a14:m>
                <a:br>
                  <a:rPr lang="en-US" altLang="ko-KR" sz="2000" dirty="0"/>
                </a:b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000" i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sz="2000" i="0" smtClean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altLang="ko-KR" sz="2000" b="0" i="0" smtClean="0">
                            <a:latin typeface="Cambria Math" panose="02040503050406030204" pitchFamily="18" charset="0"/>
                          </a:rPr>
                          <m:t>900</m:t>
                        </m:r>
                      </m:sub>
                    </m:sSub>
                    <m:r>
                      <a:rPr lang="en-US" altLang="ko-KR" sz="2000" i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sz="2000" b="0" i="0" smtClean="0">
                        <a:latin typeface="Cambria Math" panose="02040503050406030204" pitchFamily="18" charset="0"/>
                      </a:rPr>
                      <m:t>900.11 </m:t>
                    </m:r>
                    <m:r>
                      <m:rPr>
                        <m:sty m:val="p"/>
                      </m:rPr>
                      <a:rPr lang="en-US" altLang="ko-KR" sz="2000" b="0" i="0" smtClean="0">
                        <a:latin typeface="Cambria Math" panose="02040503050406030204" pitchFamily="18" charset="0"/>
                      </a:rPr>
                      <m:t>nm</m:t>
                    </m:r>
                    <m:r>
                      <a:rPr lang="en-US" altLang="ko-KR" sz="2000" b="0" i="0" smtClean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altLang="ko-KR" sz="2000" b="0" dirty="0"/>
                  <a:t> </a:t>
                </a:r>
                <a:br>
                  <a:rPr lang="en-US" altLang="ko-KR" sz="2000" b="0" dirty="0"/>
                </a:b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00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sz="200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altLang="ko-KR" sz="2000">
                            <a:latin typeface="Cambria Math" panose="02040503050406030204" pitchFamily="18" charset="0"/>
                          </a:rPr>
                          <m:t>9</m:t>
                        </m:r>
                        <m:r>
                          <a:rPr lang="en-US" altLang="ko-KR" sz="2000" b="0" i="0" smtClean="0"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US" altLang="ko-KR" sz="200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altLang="ko-KR" sz="200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sz="2000" b="0" i="0" smtClean="0">
                        <a:latin typeface="Cambria Math" panose="02040503050406030204" pitchFamily="18" charset="0"/>
                      </a:rPr>
                      <m:t>950</m:t>
                    </m:r>
                    <m:r>
                      <a:rPr lang="en-US" altLang="ko-KR" sz="200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altLang="ko-KR" sz="2000" b="0" i="1" smtClean="0">
                        <a:latin typeface="Cambria Math" panose="02040503050406030204" pitchFamily="18" charset="0"/>
                      </a:rPr>
                      <m:t>87</m:t>
                    </m:r>
                    <m:r>
                      <a:rPr lang="en-US" altLang="ko-KR" sz="200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ko-KR" sz="2000">
                        <a:latin typeface="Cambria Math" panose="02040503050406030204" pitchFamily="18" charset="0"/>
                      </a:rPr>
                      <m:t>nm</m:t>
                    </m:r>
                  </m:oMath>
                </a14:m>
                <a:r>
                  <a:rPr lang="en-US" altLang="ko-KR" sz="2000" b="0" dirty="0"/>
                  <a:t> </a:t>
                </a:r>
              </a:p>
              <a:p>
                <a:pPr marL="342900" lvl="0" indent="-342900">
                  <a:lnSpc>
                    <a:spcPct val="150000"/>
                  </a:lnSpc>
                  <a:buFontTx/>
                  <a:buChar char="-"/>
                  <a:defRPr/>
                </a:pPr>
                <a:r>
                  <a:rPr lang="en-US" altLang="ko-KR" sz="2000" dirty="0"/>
                  <a:t>Consistently higher n and k than PECVD at 493, 532nm</a:t>
                </a:r>
              </a:p>
              <a:p>
                <a:pPr marL="342900" lvl="0" indent="-342900">
                  <a:lnSpc>
                    <a:spcPct val="150000"/>
                  </a:lnSpc>
                  <a:buFontTx/>
                  <a:buChar char="-"/>
                  <a:defRPr/>
                </a:pPr>
                <a:r>
                  <a:rPr lang="en-US" altLang="ko-KR" sz="2000" dirty="0"/>
                  <a:t>n - k vary by process to process</a:t>
                </a: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360B63B7-741B-C547-E9C8-AE183745E33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53680" y="1019281"/>
                <a:ext cx="4174288" cy="3737946"/>
              </a:xfrm>
              <a:prstGeom prst="rect">
                <a:avLst/>
              </a:prstGeom>
              <a:blipFill>
                <a:blip r:embed="rId3"/>
                <a:stretch>
                  <a:fillRect l="-1158" b="-1616"/>
                </a:stretch>
              </a:blipFill>
              <a:ln w="381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그림 3">
            <a:extLst>
              <a:ext uri="{FF2B5EF4-FFF2-40B4-BE49-F238E27FC236}">
                <a16:creationId xmlns:a16="http://schemas.microsoft.com/office/drawing/2014/main" id="{15512A02-EC4D-8E2E-D5CC-BDEEDD10A91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4032" y="1019281"/>
            <a:ext cx="7588049" cy="4819437"/>
          </a:xfrm>
          <a:prstGeom prst="rect">
            <a:avLst/>
          </a:prstGeom>
        </p:spPr>
      </p:pic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655B4613-6EAA-F23A-9DBF-E0F1B43F3A7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16326169"/>
              </p:ext>
            </p:extLst>
          </p:nvPr>
        </p:nvGraphicFramePr>
        <p:xfrm>
          <a:off x="7598210" y="4863837"/>
          <a:ext cx="4429758" cy="1777125"/>
        </p:xfrm>
        <a:graphic>
          <a:graphicData uri="http://schemas.openxmlformats.org/drawingml/2006/table">
            <a:tbl>
              <a:tblPr firstRow="1" bandRow="1">
                <a:tableStyleId>{FABFCF23-3B69-468F-B69F-88F6DE6A72F2}</a:tableStyleId>
              </a:tblPr>
              <a:tblGrid>
                <a:gridCol w="651278">
                  <a:extLst>
                    <a:ext uri="{9D8B030D-6E8A-4147-A177-3AD203B41FA5}">
                      <a16:colId xmlns:a16="http://schemas.microsoft.com/office/drawing/2014/main" val="1268171083"/>
                    </a:ext>
                  </a:extLst>
                </a:gridCol>
                <a:gridCol w="1889240">
                  <a:extLst>
                    <a:ext uri="{9D8B030D-6E8A-4147-A177-3AD203B41FA5}">
                      <a16:colId xmlns:a16="http://schemas.microsoft.com/office/drawing/2014/main" val="478640369"/>
                    </a:ext>
                  </a:extLst>
                </a:gridCol>
                <a:gridCol w="1889240">
                  <a:extLst>
                    <a:ext uri="{9D8B030D-6E8A-4147-A177-3AD203B41FA5}">
                      <a16:colId xmlns:a16="http://schemas.microsoft.com/office/drawing/2014/main" val="610956503"/>
                    </a:ext>
                  </a:extLst>
                </a:gridCol>
              </a:tblGrid>
              <a:tr h="51509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H (nm)</a:t>
                      </a:r>
                      <a:endParaRPr lang="ko-KR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Imaging</a:t>
                      </a:r>
                    </a:p>
                    <a:p>
                      <a:pPr algn="ctr" latinLnBrk="1"/>
                      <a:r>
                        <a:rPr lang="en-US" altLang="ko-KR" sz="1600" dirty="0"/>
                        <a:t>(493nm)</a:t>
                      </a:r>
                      <a:endParaRPr lang="ko-KR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Raman</a:t>
                      </a:r>
                    </a:p>
                    <a:p>
                      <a:pPr algn="ctr" latinLnBrk="1"/>
                      <a:r>
                        <a:rPr lang="en-US" altLang="ko-KR" sz="1600" dirty="0"/>
                        <a:t>(532nm)</a:t>
                      </a:r>
                      <a:endParaRPr lang="ko-KR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702651240"/>
                  </a:ext>
                </a:extLst>
              </a:tr>
              <a:tr h="37530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650</a:t>
                      </a:r>
                      <a:endParaRPr lang="ko-KR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2.0535+</a:t>
                      </a:r>
                      <a:r>
                        <a:rPr lang="en-US" altLang="ko-KR" sz="1600" i="1" dirty="0"/>
                        <a:t>i </a:t>
                      </a:r>
                      <a:r>
                        <a:rPr lang="en-US" altLang="ko-KR" sz="1600" i="0" dirty="0"/>
                        <a:t>0.0008</a:t>
                      </a:r>
                      <a:endParaRPr lang="ko-KR" altLang="en-US" sz="1600" i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2.0394+</a:t>
                      </a:r>
                      <a:r>
                        <a:rPr lang="en-US" altLang="ko-KR" sz="1600" i="1" dirty="0"/>
                        <a:t>i </a:t>
                      </a:r>
                      <a:r>
                        <a:rPr lang="en-US" altLang="ko-KR" sz="1600" i="0" dirty="0"/>
                        <a:t>0.0001</a:t>
                      </a:r>
                      <a:endParaRPr lang="ko-KR" altLang="en-US" sz="1600" i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002211438"/>
                  </a:ext>
                </a:extLst>
              </a:tr>
              <a:tr h="44739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900</a:t>
                      </a:r>
                      <a:endParaRPr lang="ko-KR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2.0861+</a:t>
                      </a:r>
                      <a:r>
                        <a:rPr lang="en-US" altLang="ko-KR" sz="1600" i="1" dirty="0"/>
                        <a:t>i </a:t>
                      </a:r>
                      <a:r>
                        <a:rPr lang="en-US" altLang="ko-KR" sz="1600" i="0" dirty="0"/>
                        <a:t>0.0012</a:t>
                      </a:r>
                      <a:endParaRPr lang="ko-KR" altLang="en-US" sz="1600" i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dirty="0"/>
                        <a:t>2.0693+</a:t>
                      </a:r>
                      <a:r>
                        <a:rPr lang="en-US" altLang="ko-KR" sz="1600" i="1" dirty="0"/>
                        <a:t>i </a:t>
                      </a:r>
                      <a:r>
                        <a:rPr lang="en-US" altLang="ko-KR" sz="1600" i="0" dirty="0"/>
                        <a:t>0.0001</a:t>
                      </a:r>
                      <a:endParaRPr lang="ko-KR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57333647"/>
                  </a:ext>
                </a:extLst>
              </a:tr>
              <a:tr h="37530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950</a:t>
                      </a:r>
                      <a:endParaRPr lang="ko-KR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dirty="0"/>
                        <a:t>2.0498+</a:t>
                      </a:r>
                      <a:r>
                        <a:rPr lang="en-US" altLang="ko-KR" sz="1600" i="1" dirty="0"/>
                        <a:t>i </a:t>
                      </a:r>
                      <a:r>
                        <a:rPr lang="en-US" altLang="ko-KR" sz="1600" i="0" dirty="0"/>
                        <a:t>0.0005</a:t>
                      </a:r>
                      <a:endParaRPr lang="ko-KR" altLang="en-US" sz="1600" i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dirty="0"/>
                        <a:t>2.0356+</a:t>
                      </a:r>
                      <a:r>
                        <a:rPr lang="en-US" altLang="ko-KR" sz="1600" i="1" dirty="0"/>
                        <a:t>i </a:t>
                      </a:r>
                      <a:r>
                        <a:rPr lang="en-US" altLang="ko-KR" sz="1600" i="0" dirty="0"/>
                        <a:t>0.0000</a:t>
                      </a:r>
                      <a:endParaRPr lang="ko-KR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94825662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484843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F0A903-2A09-C396-6D39-E37FFA0D00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2B9EFA5-EF6F-293F-122C-74140AFCC5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PECVD (KANC)</a:t>
            </a:r>
            <a:endParaRPr lang="ko-KR" altLang="en-US" dirty="0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E5DC3F4B-B01E-4405-12EF-2455066B370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1513" y="1022586"/>
            <a:ext cx="7577642" cy="481282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BA2738D9-4D09-4FFB-B6F0-3221C67C0027}"/>
                  </a:ext>
                </a:extLst>
              </p:cNvPr>
              <p:cNvSpPr txBox="1"/>
              <p:nvPr/>
            </p:nvSpPr>
            <p:spPr>
              <a:xfrm>
                <a:off x="7849155" y="1022586"/>
                <a:ext cx="4170125" cy="3737946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marL="342900" lvl="0" indent="-342900">
                  <a:lnSpc>
                    <a:spcPct val="150000"/>
                  </a:lnSpc>
                  <a:buFontTx/>
                  <a:buChar char="-"/>
                  <a:defRPr/>
                </a:pPr>
                <a:r>
                  <a:rPr lang="en-US" altLang="ko-KR" sz="2000" dirty="0"/>
                  <a:t>Different dep T (400˚C, 300˚C)</a:t>
                </a:r>
              </a:p>
              <a:p>
                <a:pPr marL="342900" indent="-342900">
                  <a:lnSpc>
                    <a:spcPct val="150000"/>
                  </a:lnSpc>
                  <a:buFontTx/>
                  <a:buChar char="-"/>
                  <a:defRPr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2000" i="1">
                            <a:latin typeface="Cambria Math" panose="02040503050406030204" pitchFamily="18" charset="0"/>
                          </a:rPr>
                          <m:t>ℎ</m:t>
                        </m:r>
                      </m:e>
                      <m:sub>
                        <m:r>
                          <a:rPr lang="en-US" altLang="ko-KR" sz="2000" i="1">
                            <a:latin typeface="Cambria Math" panose="02040503050406030204" pitchFamily="18" charset="0"/>
                          </a:rPr>
                          <m:t>400˚</m:t>
                        </m:r>
                        <m:r>
                          <a:rPr lang="en-US" altLang="ko-KR" sz="2000" i="1">
                            <a:latin typeface="Cambria Math" panose="02040503050406030204" pitchFamily="18" charset="0"/>
                          </a:rPr>
                          <m:t>𝐶</m:t>
                        </m:r>
                      </m:sub>
                    </m:sSub>
                    <m:r>
                      <a:rPr lang="en-US" altLang="ko-KR" sz="20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sz="2000" b="0" i="1" smtClean="0">
                        <a:latin typeface="Cambria Math" panose="02040503050406030204" pitchFamily="18" charset="0"/>
                      </a:rPr>
                      <m:t>1299.17</m:t>
                    </m:r>
                    <m:r>
                      <a:rPr lang="en-US" altLang="ko-KR" sz="2000" i="1">
                        <a:latin typeface="Cambria Math" panose="02040503050406030204" pitchFamily="18" charset="0"/>
                      </a:rPr>
                      <m:t>𝑛𝑚</m:t>
                    </m:r>
                  </m:oMath>
                </a14:m>
                <a:br>
                  <a:rPr lang="en-US" altLang="ko-KR" sz="2000" dirty="0"/>
                </a:b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2000" i="1">
                            <a:latin typeface="Cambria Math" panose="02040503050406030204" pitchFamily="18" charset="0"/>
                          </a:rPr>
                          <m:t>ℎ</m:t>
                        </m:r>
                      </m:e>
                      <m:sub>
                        <m: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US" altLang="ko-KR" sz="2000" i="1">
                            <a:latin typeface="Cambria Math" panose="02040503050406030204" pitchFamily="18" charset="0"/>
                          </a:rPr>
                          <m:t>00˚</m:t>
                        </m:r>
                        <m:r>
                          <a:rPr lang="en-US" altLang="ko-KR" sz="2000" i="1">
                            <a:latin typeface="Cambria Math" panose="02040503050406030204" pitchFamily="18" charset="0"/>
                          </a:rPr>
                          <m:t>𝐶</m:t>
                        </m:r>
                      </m:sub>
                    </m:sSub>
                    <m:r>
                      <a:rPr lang="en-US" altLang="ko-KR" sz="20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sz="2000" b="0" i="1" smtClean="0">
                        <a:latin typeface="Cambria Math" panose="02040503050406030204" pitchFamily="18" charset="0"/>
                      </a:rPr>
                      <m:t>1363.70, 1349.85</m:t>
                    </m:r>
                    <m:r>
                      <a:rPr lang="en-US" altLang="ko-KR" sz="2000" i="1">
                        <a:latin typeface="Cambria Math" panose="02040503050406030204" pitchFamily="18" charset="0"/>
                      </a:rPr>
                      <m:t>𝑛𝑚</m:t>
                    </m:r>
                  </m:oMath>
                </a14:m>
                <a:endParaRPr lang="en-US" altLang="ko-KR" sz="2000" dirty="0"/>
              </a:p>
              <a:p>
                <a:pPr marL="342900" indent="-342900">
                  <a:lnSpc>
                    <a:spcPct val="150000"/>
                  </a:lnSpc>
                  <a:buFontTx/>
                  <a:buChar char="-"/>
                  <a:defRPr/>
                </a:pPr>
                <a:r>
                  <a:rPr lang="en-US" altLang="ko-KR" sz="2000" dirty="0"/>
                  <a:t>Similar trend to previous 400 ˚C process </a:t>
                </a:r>
                <a:br>
                  <a:rPr lang="en-US" altLang="ko-KR" sz="2000" dirty="0"/>
                </a:br>
                <a14:m>
                  <m:oMath xmlns:m="http://schemas.openxmlformats.org/officeDocument/2006/math">
                    <m:r>
                      <a:rPr lang="en-US" altLang="ko-KR" sz="2000" i="1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altLang="ko-KR" sz="2000" b="0" dirty="0"/>
                  <a:t> Higher Si content at 400</a:t>
                </a:r>
                <a:r>
                  <a:rPr lang="en-US" altLang="ko-KR" sz="2000" dirty="0"/>
                  <a:t>˚C</a:t>
                </a:r>
              </a:p>
              <a:p>
                <a:pPr marL="342900" indent="-342900">
                  <a:lnSpc>
                    <a:spcPct val="150000"/>
                  </a:lnSpc>
                  <a:buFontTx/>
                  <a:buChar char="-"/>
                  <a:defRPr/>
                </a:pPr>
                <a:r>
                  <a:rPr lang="en-US" altLang="ko-KR" sz="2000" b="0" dirty="0"/>
                  <a:t>300</a:t>
                </a:r>
                <a:r>
                  <a:rPr lang="en-US" altLang="ko-KR" sz="2000" dirty="0"/>
                  <a:t> ˚C</a:t>
                </a:r>
                <a:r>
                  <a:rPr lang="en-US" altLang="ko-KR" sz="2000" b="0" dirty="0"/>
                  <a:t> process will be used</a:t>
                </a:r>
                <a:r>
                  <a:rPr lang="en-US" altLang="ko-KR" sz="2000" dirty="0"/>
                  <a:t> for MS fabrication</a:t>
                </a:r>
                <a:endParaRPr lang="en-US" altLang="ko-KR" sz="2000" b="0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BA2738D9-4D09-4FFB-B6F0-3221C67C002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49155" y="1022586"/>
                <a:ext cx="4170125" cy="3737946"/>
              </a:xfrm>
              <a:prstGeom prst="rect">
                <a:avLst/>
              </a:prstGeom>
              <a:blipFill>
                <a:blip r:embed="rId4"/>
                <a:stretch>
                  <a:fillRect l="-1159" b="-1454"/>
                </a:stretch>
              </a:blipFill>
              <a:ln w="381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6" name="표 15">
            <a:extLst>
              <a:ext uri="{FF2B5EF4-FFF2-40B4-BE49-F238E27FC236}">
                <a16:creationId xmlns:a16="http://schemas.microsoft.com/office/drawing/2014/main" id="{B4351DB7-BAAD-22A7-5990-4E1CE53C36F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86721728"/>
              </p:ext>
            </p:extLst>
          </p:nvPr>
        </p:nvGraphicFramePr>
        <p:xfrm>
          <a:off x="7589522" y="5004659"/>
          <a:ext cx="4455072" cy="1661507"/>
        </p:xfrm>
        <a:graphic>
          <a:graphicData uri="http://schemas.openxmlformats.org/drawingml/2006/table">
            <a:tbl>
              <a:tblPr firstRow="1" bandRow="1">
                <a:tableStyleId>{FABFCF23-3B69-468F-B69F-88F6DE6A72F2}</a:tableStyleId>
              </a:tblPr>
              <a:tblGrid>
                <a:gridCol w="676592">
                  <a:extLst>
                    <a:ext uri="{9D8B030D-6E8A-4147-A177-3AD203B41FA5}">
                      <a16:colId xmlns:a16="http://schemas.microsoft.com/office/drawing/2014/main" val="1268171083"/>
                    </a:ext>
                  </a:extLst>
                </a:gridCol>
                <a:gridCol w="1889240">
                  <a:extLst>
                    <a:ext uri="{9D8B030D-6E8A-4147-A177-3AD203B41FA5}">
                      <a16:colId xmlns:a16="http://schemas.microsoft.com/office/drawing/2014/main" val="478640369"/>
                    </a:ext>
                  </a:extLst>
                </a:gridCol>
                <a:gridCol w="1889240">
                  <a:extLst>
                    <a:ext uri="{9D8B030D-6E8A-4147-A177-3AD203B41FA5}">
                      <a16:colId xmlns:a16="http://schemas.microsoft.com/office/drawing/2014/main" val="610956503"/>
                    </a:ext>
                  </a:extLst>
                </a:gridCol>
              </a:tblGrid>
              <a:tr h="50326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/>
                        <a:t>T (˚C)</a:t>
                      </a:r>
                      <a:endParaRPr lang="ko-KR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/>
                        <a:t>Imaging</a:t>
                      </a:r>
                    </a:p>
                    <a:p>
                      <a:pPr algn="ctr" latinLnBrk="1"/>
                      <a:r>
                        <a:rPr lang="en-US" altLang="ko-KR" sz="1600"/>
                        <a:t>(493nm)</a:t>
                      </a:r>
                      <a:endParaRPr lang="ko-KR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/>
                        <a:t>Raman</a:t>
                      </a:r>
                    </a:p>
                    <a:p>
                      <a:pPr algn="ctr" latinLnBrk="1"/>
                      <a:r>
                        <a:rPr lang="en-US" altLang="ko-KR" sz="1600"/>
                        <a:t>(532nm)</a:t>
                      </a:r>
                      <a:endParaRPr lang="ko-KR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702651240"/>
                  </a:ext>
                </a:extLst>
              </a:tr>
              <a:tr h="50326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solidFill>
                            <a:srgbClr val="FF0000"/>
                          </a:solidFill>
                        </a:rPr>
                        <a:t>300</a:t>
                      </a:r>
                      <a:endParaRPr lang="ko-KR" altLang="en-US" sz="1600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solidFill>
                            <a:srgbClr val="FF0000"/>
                          </a:solidFill>
                        </a:rPr>
                        <a:t>2.0008+</a:t>
                      </a:r>
                      <a:r>
                        <a:rPr lang="en-US" altLang="ko-KR" sz="1600" i="1" dirty="0">
                          <a:solidFill>
                            <a:srgbClr val="FF0000"/>
                          </a:solidFill>
                        </a:rPr>
                        <a:t>i </a:t>
                      </a:r>
                      <a:r>
                        <a:rPr lang="en-US" altLang="ko-KR" sz="1600" i="0" dirty="0">
                          <a:solidFill>
                            <a:srgbClr val="FF0000"/>
                          </a:solidFill>
                        </a:rPr>
                        <a:t>0.0000</a:t>
                      </a:r>
                      <a:endParaRPr lang="ko-KR" altLang="en-US" sz="1600" i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solidFill>
                            <a:srgbClr val="FF0000"/>
                          </a:solidFill>
                        </a:rPr>
                        <a:t>1.9914+</a:t>
                      </a:r>
                      <a:r>
                        <a:rPr lang="en-US" altLang="ko-KR" sz="1600" i="1" dirty="0">
                          <a:solidFill>
                            <a:srgbClr val="FF0000"/>
                          </a:solidFill>
                        </a:rPr>
                        <a:t>i </a:t>
                      </a:r>
                      <a:r>
                        <a:rPr lang="en-US" altLang="ko-KR" sz="1600" i="0" dirty="0">
                          <a:solidFill>
                            <a:srgbClr val="FF0000"/>
                          </a:solidFill>
                        </a:rPr>
                        <a:t>0.0000</a:t>
                      </a:r>
                      <a:endParaRPr lang="ko-KR" altLang="en-US" sz="1600" i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002211438"/>
                  </a:ext>
                </a:extLst>
              </a:tr>
              <a:tr h="50326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400</a:t>
                      </a:r>
                      <a:endParaRPr lang="ko-KR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2.0571+</a:t>
                      </a:r>
                      <a:r>
                        <a:rPr lang="en-US" altLang="ko-KR" sz="1600" i="1" dirty="0"/>
                        <a:t>i </a:t>
                      </a:r>
                      <a:r>
                        <a:rPr lang="en-US" altLang="ko-KR" sz="1600" i="0" dirty="0"/>
                        <a:t>0.0005</a:t>
                      </a:r>
                      <a:endParaRPr lang="ko-KR" altLang="en-US" sz="1600" i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dirty="0"/>
                        <a:t>2.0428+</a:t>
                      </a:r>
                      <a:r>
                        <a:rPr lang="en-US" altLang="ko-KR" sz="1600" i="1" dirty="0"/>
                        <a:t>i </a:t>
                      </a:r>
                      <a:r>
                        <a:rPr lang="en-US" altLang="ko-KR" sz="1600" i="0" dirty="0"/>
                        <a:t>0.0000</a:t>
                      </a:r>
                      <a:endParaRPr lang="ko-KR" altLang="en-US" sz="1600" i="1" dirty="0"/>
                    </a:p>
                    <a:p>
                      <a:pPr algn="ctr" latinLnBrk="1"/>
                      <a:endParaRPr lang="ko-KR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5733364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342840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84376D-734B-64CF-E484-40B1008C84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E0AE8DB-099B-087B-61A3-B0DB0A275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Fabrication window (Freeform MS)</a:t>
            </a:r>
            <a:endParaRPr lang="ko-KR" alt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804931A-CE43-B556-6682-732E556F286C}"/>
              </a:ext>
            </a:extLst>
          </p:cNvPr>
          <p:cNvSpPr txBox="1"/>
          <p:nvPr/>
        </p:nvSpPr>
        <p:spPr>
          <a:xfrm>
            <a:off x="345440" y="4350856"/>
            <a:ext cx="11501119" cy="1427122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342900" lvl="0" indent="-342900">
              <a:lnSpc>
                <a:spcPct val="150000"/>
              </a:lnSpc>
              <a:buFontTx/>
              <a:buChar char="-"/>
              <a:defRPr/>
            </a:pPr>
            <a:r>
              <a:rPr lang="en-US" altLang="ko-KR" sz="2000" dirty="0"/>
              <a:t>Minimum feature (80%) : 60 nm</a:t>
            </a:r>
          </a:p>
          <a:p>
            <a:pPr marL="342900" indent="-342900">
              <a:lnSpc>
                <a:spcPct val="150000"/>
              </a:lnSpc>
              <a:buFontTx/>
              <a:buChar char="-"/>
              <a:defRPr/>
            </a:pPr>
            <a:r>
              <a:rPr lang="en-US" altLang="ko-KR" sz="2000" dirty="0"/>
              <a:t>Minimum pitch (80%) : 80 nm</a:t>
            </a:r>
          </a:p>
          <a:p>
            <a:pPr marL="342900" indent="-342900">
              <a:lnSpc>
                <a:spcPct val="150000"/>
              </a:lnSpc>
              <a:buFontTx/>
              <a:buChar char="-"/>
              <a:defRPr/>
            </a:pPr>
            <a:r>
              <a:rPr lang="en-US" altLang="ko-KR" sz="2000" dirty="0"/>
              <a:t>Not a direct comparison due to </a:t>
            </a:r>
            <a:r>
              <a:rPr lang="en-US" altLang="ko-KR" sz="2000" dirty="0" err="1"/>
              <a:t>SiN</a:t>
            </a:r>
            <a:r>
              <a:rPr lang="en-US" altLang="ko-KR" sz="2000" dirty="0"/>
              <a:t> sidewall angle issue</a:t>
            </a:r>
            <a:endParaRPr lang="en-US" altLang="ko-KR" sz="2000" b="0" dirty="0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133233CA-6A77-62F3-BD6B-F4AA8A36E7D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637" t="41443" r="49712" b="27890"/>
          <a:stretch>
            <a:fillRect/>
          </a:stretch>
        </p:blipFill>
        <p:spPr>
          <a:xfrm>
            <a:off x="6267521" y="846176"/>
            <a:ext cx="2713920" cy="3024784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77466C5E-9DBD-38E1-AA0B-0A3E95FE510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242" t="11151" r="25313" b="62963"/>
          <a:stretch>
            <a:fillRect/>
          </a:stretch>
        </p:blipFill>
        <p:spPr>
          <a:xfrm>
            <a:off x="518160" y="973762"/>
            <a:ext cx="5770879" cy="2762652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E3D288FC-155C-6171-101F-3C6B6A4A1932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866"/>
          <a:stretch>
            <a:fillRect/>
          </a:stretch>
        </p:blipFill>
        <p:spPr>
          <a:xfrm>
            <a:off x="8896888" y="1244600"/>
            <a:ext cx="3141512" cy="2184400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grpSp>
        <p:nvGrpSpPr>
          <p:cNvPr id="15" name="그룹 14">
            <a:extLst>
              <a:ext uri="{FF2B5EF4-FFF2-40B4-BE49-F238E27FC236}">
                <a16:creationId xmlns:a16="http://schemas.microsoft.com/office/drawing/2014/main" id="{FBF6A75B-8B88-9DB7-9EE5-F5F296114BA9}"/>
              </a:ext>
            </a:extLst>
          </p:cNvPr>
          <p:cNvGrpSpPr/>
          <p:nvPr/>
        </p:nvGrpSpPr>
        <p:grpSpPr>
          <a:xfrm>
            <a:off x="2678344" y="3277953"/>
            <a:ext cx="532218" cy="357939"/>
            <a:chOff x="3988909" y="1892684"/>
            <a:chExt cx="532218" cy="357939"/>
          </a:xfrm>
        </p:grpSpPr>
        <p:sp>
          <p:nvSpPr>
            <p:cNvPr id="16" name="직사각형 15">
              <a:extLst>
                <a:ext uri="{FF2B5EF4-FFF2-40B4-BE49-F238E27FC236}">
                  <a16:creationId xmlns:a16="http://schemas.microsoft.com/office/drawing/2014/main" id="{681B567D-A272-787F-7D23-FCAFBB9C2758}"/>
                </a:ext>
              </a:extLst>
            </p:cNvPr>
            <p:cNvSpPr/>
            <p:nvPr/>
          </p:nvSpPr>
          <p:spPr>
            <a:xfrm>
              <a:off x="3988909" y="1892684"/>
              <a:ext cx="530211" cy="35793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A204F962-BC30-F71A-87A0-A549A5365BFD}"/>
                    </a:ext>
                  </a:extLst>
                </p:cNvPr>
                <p:cNvSpPr txBox="1"/>
                <p:nvPr/>
              </p:nvSpPr>
              <p:spPr>
                <a:xfrm>
                  <a:off x="3990917" y="1892684"/>
                  <a:ext cx="530210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ko-KR" sz="1200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2 </a:t>
                  </a:r>
                  <a14:m>
                    <m:oMath xmlns:m="http://schemas.openxmlformats.org/officeDocument/2006/math">
                      <m:r>
                        <a:rPr lang="en-US" altLang="ko-KR" sz="12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𝜇</m:t>
                      </m:r>
                    </m:oMath>
                  </a14:m>
                  <a:r>
                    <a:rPr lang="en-US" altLang="ko-KR" sz="1200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m</a:t>
                  </a:r>
                  <a:endParaRPr lang="ko-KR" altLang="en-US" sz="1200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mc:Choice>
          <mc:Fallback xmlns="">
            <p:sp>
              <p:nvSpPr>
                <p:cNvPr id="66" name="TextBox 65">
                  <a:extLst>
                    <a:ext uri="{FF2B5EF4-FFF2-40B4-BE49-F238E27FC236}">
                      <a16:creationId xmlns:a16="http://schemas.microsoft.com/office/drawing/2014/main" id="{FFA05B5B-169C-FAD1-C0DC-01BA784D3F3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990917" y="1892684"/>
                  <a:ext cx="530210" cy="276999"/>
                </a:xfrm>
                <a:prstGeom prst="rect">
                  <a:avLst/>
                </a:prstGeom>
                <a:blipFill>
                  <a:blip r:embed="rId6"/>
                  <a:stretch>
                    <a:fillRect l="-1149" t="-4444" b="-15556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8" name="직사각형 17">
              <a:extLst>
                <a:ext uri="{FF2B5EF4-FFF2-40B4-BE49-F238E27FC236}">
                  <a16:creationId xmlns:a16="http://schemas.microsoft.com/office/drawing/2014/main" id="{DEB56A4B-9581-9374-7EB2-119B634D7D5A}"/>
                </a:ext>
              </a:extLst>
            </p:cNvPr>
            <p:cNvSpPr/>
            <p:nvPr/>
          </p:nvSpPr>
          <p:spPr>
            <a:xfrm>
              <a:off x="4137773" y="2127467"/>
              <a:ext cx="271283" cy="94284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9C93BF34-62F6-19CE-CCDF-CEB16B0C43DD}"/>
              </a:ext>
            </a:extLst>
          </p:cNvPr>
          <p:cNvSpPr/>
          <p:nvPr/>
        </p:nvSpPr>
        <p:spPr>
          <a:xfrm>
            <a:off x="11191671" y="3058923"/>
            <a:ext cx="846729" cy="59105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57396BE-994C-7F0F-84D3-D8D91770B5E1}"/>
              </a:ext>
            </a:extLst>
          </p:cNvPr>
          <p:cNvSpPr txBox="1"/>
          <p:nvPr/>
        </p:nvSpPr>
        <p:spPr>
          <a:xfrm>
            <a:off x="11249492" y="3116340"/>
            <a:ext cx="713347" cy="28389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>
                <a:latin typeface="Arial" panose="020B0604020202020204" pitchFamily="34" charset="0"/>
                <a:cs typeface="Arial" panose="020B0604020202020204" pitchFamily="34" charset="0"/>
              </a:rPr>
              <a:t>500 nm</a:t>
            </a:r>
            <a:endParaRPr lang="ko-KR" alt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75F39E41-A09D-A314-B0A3-0C62DA74D433}"/>
              </a:ext>
            </a:extLst>
          </p:cNvPr>
          <p:cNvSpPr/>
          <p:nvPr/>
        </p:nvSpPr>
        <p:spPr>
          <a:xfrm>
            <a:off x="11322006" y="3443452"/>
            <a:ext cx="639518" cy="11362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195889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B6F6D5F-49D1-A747-5854-0FC9AA3475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Summary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0A220C46-85D3-7C42-F4A4-2404E3DE7D56}"/>
                  </a:ext>
                </a:extLst>
              </p:cNvPr>
              <p:cNvSpPr txBox="1"/>
              <p:nvPr/>
            </p:nvSpPr>
            <p:spPr>
              <a:xfrm>
                <a:off x="430518" y="958845"/>
                <a:ext cx="11330963" cy="2350452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marL="342900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  <a:defRPr/>
                </a:pPr>
                <a:r>
                  <a:rPr lang="en-US" altLang="ko-KR" sz="2000" dirty="0" err="1"/>
                  <a:t>SiN</a:t>
                </a:r>
                <a:r>
                  <a:rPr lang="en-US" altLang="ko-KR" sz="2000" dirty="0"/>
                  <a:t> n-k : </a:t>
                </a:r>
                <a:r>
                  <a:rPr lang="en-US" altLang="ko-KR" sz="2000" dirty="0">
                    <a:solidFill>
                      <a:srgbClr val="FF0000"/>
                    </a:solidFill>
                  </a:rPr>
                  <a:t>2.0008+</a:t>
                </a:r>
                <a:r>
                  <a:rPr lang="en-US" altLang="ko-KR" sz="2000" i="1" dirty="0">
                    <a:solidFill>
                      <a:srgbClr val="FF0000"/>
                    </a:solidFill>
                  </a:rPr>
                  <a:t>i </a:t>
                </a:r>
                <a:r>
                  <a:rPr lang="en-US" altLang="ko-KR" sz="2000" dirty="0">
                    <a:solidFill>
                      <a:srgbClr val="FF0000"/>
                    </a:solidFill>
                  </a:rPr>
                  <a:t>0.0000 (493nm) , 1.9914+</a:t>
                </a:r>
                <a:r>
                  <a:rPr lang="en-US" altLang="ko-KR" sz="2000" i="1" dirty="0">
                    <a:solidFill>
                      <a:srgbClr val="FF0000"/>
                    </a:solidFill>
                  </a:rPr>
                  <a:t>i </a:t>
                </a:r>
                <a:r>
                  <a:rPr lang="en-US" altLang="ko-KR" sz="2000" dirty="0">
                    <a:solidFill>
                      <a:srgbClr val="FF0000"/>
                    </a:solidFill>
                  </a:rPr>
                  <a:t>0.0000 (532nm)</a:t>
                </a:r>
                <a:endParaRPr lang="en-US" altLang="ko-KR" sz="2000" dirty="0"/>
              </a:p>
              <a:p>
                <a:pPr marL="342900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  <a:defRPr/>
                </a:pPr>
                <a:r>
                  <a:rPr lang="en-US" altLang="ko-KR" sz="2000" dirty="0"/>
                  <a:t>Substrate : 2.5 x2.5 mm Fused quartz 500</a:t>
                </a:r>
                <a14:m>
                  <m:oMath xmlns:m="http://schemas.openxmlformats.org/officeDocument/2006/math">
                    <m:r>
                      <a:rPr lang="en-US" altLang="ko-KR" sz="2000" i="1">
                        <a:latin typeface="Cambria Math" panose="02040503050406030204" pitchFamily="18" charset="0"/>
                      </a:rPr>
                      <m:t>𝜇</m:t>
                    </m:r>
                    <m:r>
                      <a:rPr lang="en-US" altLang="ko-KR" sz="2000" i="1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endParaRPr lang="en-US" altLang="ko-KR" sz="2000" dirty="0"/>
              </a:p>
              <a:p>
                <a:pPr marL="342900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  <a:defRPr/>
                </a:pPr>
                <a:r>
                  <a:rPr lang="en-US" altLang="ko-KR" sz="2000" dirty="0"/>
                  <a:t>Minimum feature/pitch : 60/80 nm</a:t>
                </a:r>
              </a:p>
              <a:p>
                <a:pPr marL="342900" lvl="0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  <a:defRPr/>
                </a:pPr>
                <a:r>
                  <a:rPr lang="en-US" altLang="ko-KR" sz="2000" dirty="0"/>
                  <a:t>Aspect ratio (feature/pitch) </a:t>
                </a:r>
                <a14:m>
                  <m:oMath xmlns:m="http://schemas.openxmlformats.org/officeDocument/2006/math">
                    <m:r>
                      <a:rPr lang="en-US" altLang="ko-KR" sz="2000" i="1" dirty="0" smtClean="0">
                        <a:latin typeface="Cambria Math" panose="02040503050406030204" pitchFamily="18" charset="0"/>
                      </a:rPr>
                      <m:t>~&lt;</m:t>
                    </m:r>
                  </m:oMath>
                </a14:m>
                <a:r>
                  <a:rPr lang="en-US" altLang="ko-KR" sz="2000" dirty="0"/>
                  <a:t> 1:10</a:t>
                </a:r>
              </a:p>
              <a:p>
                <a:pPr marL="342900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  <a:defRPr/>
                </a:pPr>
                <a:r>
                  <a:rPr lang="en-US" altLang="ko-KR" sz="2000" dirty="0"/>
                  <a:t>Expected height</a:t>
                </a:r>
                <a:r>
                  <a:rPr lang="ko-KR" altLang="en-US" sz="2000" dirty="0"/>
                  <a:t> </a:t>
                </a:r>
                <a:r>
                  <a:rPr lang="en-US" altLang="ko-KR" sz="2000" dirty="0"/>
                  <a:t>: Over 800nm </a:t>
                </a:r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0A220C46-85D3-7C42-F4A4-2404E3DE7D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0518" y="958845"/>
                <a:ext cx="11330963" cy="2350452"/>
              </a:xfrm>
              <a:prstGeom prst="rect">
                <a:avLst/>
              </a:prstGeom>
              <a:blipFill>
                <a:blip r:embed="rId3"/>
                <a:stretch>
                  <a:fillRect l="-322" b="-2806"/>
                </a:stretch>
              </a:blipFill>
              <a:ln w="381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C8423516-0317-6843-E6DC-71881A1559D1}"/>
              </a:ext>
            </a:extLst>
          </p:cNvPr>
          <p:cNvSpPr txBox="1"/>
          <p:nvPr/>
        </p:nvSpPr>
        <p:spPr>
          <a:xfrm>
            <a:off x="430517" y="4088125"/>
            <a:ext cx="11330963" cy="967957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altLang="ko-KR" sz="2000" dirty="0"/>
              <a:t>Has the target phase map or the required optical performance already been defined?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altLang="ko-KR" sz="2000" dirty="0"/>
              <a:t>What does "tolerance" refer to in each of the requested data?</a:t>
            </a:r>
          </a:p>
        </p:txBody>
      </p:sp>
      <p:sp>
        <p:nvSpPr>
          <p:cNvPr id="6" name="제목 1">
            <a:extLst>
              <a:ext uri="{FF2B5EF4-FFF2-40B4-BE49-F238E27FC236}">
                <a16:creationId xmlns:a16="http://schemas.microsoft.com/office/drawing/2014/main" id="{DF9128BE-BAFD-8617-711F-EF255B38ABA8}"/>
              </a:ext>
            </a:extLst>
          </p:cNvPr>
          <p:cNvSpPr txBox="1">
            <a:spLocks/>
          </p:cNvSpPr>
          <p:nvPr/>
        </p:nvSpPr>
        <p:spPr>
          <a:xfrm>
            <a:off x="838200" y="3548704"/>
            <a:ext cx="10515600" cy="43204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28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dirty="0"/>
              <a:t>Question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4252828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5936</TotalTime>
  <Words>359</Words>
  <Application>Microsoft Office PowerPoint</Application>
  <PresentationFormat>와이드스크린</PresentationFormat>
  <Paragraphs>73</Paragraphs>
  <Slides>5</Slides>
  <Notes>5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</vt:i4>
      </vt:variant>
    </vt:vector>
  </HeadingPairs>
  <TitlesOfParts>
    <vt:vector size="11" baseType="lpstr">
      <vt:lpstr>맑은 고딕</vt:lpstr>
      <vt:lpstr>Arial</vt:lpstr>
      <vt:lpstr>Calibri</vt:lpstr>
      <vt:lpstr>Calibri Light</vt:lpstr>
      <vt:lpstr>Cambria Math</vt:lpstr>
      <vt:lpstr>Office 테마</vt:lpstr>
      <vt:lpstr>LPCVD (SNU)</vt:lpstr>
      <vt:lpstr>PECVD (KANC)</vt:lpstr>
      <vt:lpstr>PECVD (KANC)</vt:lpstr>
      <vt:lpstr>Fabrication window (Freeform MS)</vt:lpstr>
      <vt:lpstr>Summary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Jisung Hwang</dc:creator>
  <cp:lastModifiedBy>김종민</cp:lastModifiedBy>
  <cp:revision>86</cp:revision>
  <dcterms:created xsi:type="dcterms:W3CDTF">2024-12-16T11:11:38Z</dcterms:created>
  <dcterms:modified xsi:type="dcterms:W3CDTF">2026-09-23T07:47:57Z</dcterms:modified>
</cp:coreProperties>
</file>